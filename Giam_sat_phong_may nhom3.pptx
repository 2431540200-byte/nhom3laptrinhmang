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325974-C347-4B41-9891-854E498D9C66}" v="45" dt="2026-09-29T14:17:28.7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</c:v>
                </c:pt>
              </c:strCache>
            </c:strRef>
          </c:tx>
          <c:spPr>
            <a:ln w="25400" cap="flat">
              <a:solidFill>
                <a:srgbClr val="22D3E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52</c:v>
                </c:pt>
                <c:pt idx="2">
                  <c:v>48</c:v>
                </c:pt>
                <c:pt idx="3">
                  <c:v>60</c:v>
                </c:pt>
                <c:pt idx="4">
                  <c:v>55</c:v>
                </c:pt>
                <c:pt idx="5">
                  <c:v>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281-44CF-AEA2-ADE249BA55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%</c:v>
                </c:pt>
              </c:strCache>
            </c:strRef>
          </c:tx>
          <c:spPr>
            <a:ln w="25400" cap="flat">
              <a:solidFill>
                <a:srgbClr val="22D3E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12:30:01</c:v>
                </c:pt>
                <c:pt idx="1">
                  <c:v>12:30:05</c:v>
                </c:pt>
                <c:pt idx="2">
                  <c:v>12:30:10</c:v>
                </c:pt>
                <c:pt idx="3">
                  <c:v>12:30:15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48</c:v>
                </c:pt>
                <c:pt idx="2">
                  <c:v>52</c:v>
                </c:pt>
                <c:pt idx="3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A7A-479C-8E1B-1C6C9C5D80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RAM %</c:v>
                </c:pt>
              </c:strCache>
            </c:strRef>
          </c:tx>
          <c:spPr>
            <a:ln w="25400" cap="flat">
              <a:solidFill>
                <a:srgbClr val="3B82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12:30:01</c:v>
                </c:pt>
                <c:pt idx="1">
                  <c:v>12:30:05</c:v>
                </c:pt>
                <c:pt idx="2">
                  <c:v>12:30:10</c:v>
                </c:pt>
                <c:pt idx="3">
                  <c:v>12:30:15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</c:v>
                </c:pt>
                <c:pt idx="1">
                  <c:v>61</c:v>
                </c:pt>
                <c:pt idx="2">
                  <c:v>63</c:v>
                </c:pt>
                <c:pt idx="3">
                  <c:v>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A7A-479C-8E1B-1C6C9C5D80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FB0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FB0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FB0C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31D747-CDC2-4447-86BE-66BEF80340BA}" type="datetimeFigureOut">
              <a:t>9/29/2026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DE709D-F2D5-4016-BC5E-A5386375030F}" type="slidenum"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6165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 LẬP TRÌNH MẠNG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GIÁM SÁT PHÒNG MÁY THỜI GIAN THỰC QUA MẠNG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4572000" cy="118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9FB0C8"/>
                </a:solidFill>
                <a:latin typeface="Calibri"/>
                <a:ea typeface="Calibri"/>
                <a:cs typeface="Calibri"/>
              </a:rPr>
              <a:t>Nhóm</a:t>
            </a:r>
            <a:r>
              <a:rPr lang="en-US" sz="1400" dirty="0">
                <a:solidFill>
                  <a:srgbClr val="9FB0C8"/>
                </a:solidFill>
                <a:latin typeface="Calibri"/>
                <a:ea typeface="Calibri"/>
                <a:cs typeface="Calibri"/>
              </a:rPr>
              <a:t>: 3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r>
              <a:rPr lang="en-US" sz="1400" dirty="0">
                <a:solidFill>
                  <a:srgbClr val="9FB0C8"/>
                </a:solidFill>
                <a:latin typeface="Calibri"/>
                <a:ea typeface="Calibri"/>
                <a:cs typeface="Calibri"/>
              </a:rPr>
              <a:t>Thành </a:t>
            </a:r>
            <a:r>
              <a:rPr lang="en-US" sz="1400" dirty="0" err="1">
                <a:solidFill>
                  <a:srgbClr val="9FB0C8"/>
                </a:solidFill>
                <a:latin typeface="Calibri"/>
                <a:ea typeface="Calibri"/>
                <a:cs typeface="Calibri"/>
              </a:rPr>
              <a:t>viên</a:t>
            </a:r>
            <a:r>
              <a:rPr lang="en-US" sz="1400" dirty="0">
                <a:solidFill>
                  <a:srgbClr val="9FB0C8"/>
                </a:solidFill>
                <a:latin typeface="Calibri"/>
                <a:ea typeface="Calibri"/>
                <a:cs typeface="Calibri"/>
              </a:rPr>
              <a:t>:</a:t>
            </a:r>
          </a:p>
          <a:p>
            <a:r>
              <a:rPr lang="en-US" sz="1400" dirty="0">
                <a:solidFill>
                  <a:srgbClr val="9FB0C8"/>
                </a:solidFill>
                <a:latin typeface="Calibri"/>
                <a:ea typeface="Calibri"/>
                <a:cs typeface="Calibri"/>
              </a:rPr>
              <a:t>Lê </a:t>
            </a:r>
            <a:r>
              <a:rPr lang="en-US" sz="1400" dirty="0" err="1">
                <a:solidFill>
                  <a:srgbClr val="9FB0C8"/>
                </a:solidFill>
                <a:latin typeface="Calibri"/>
                <a:ea typeface="Calibri"/>
                <a:cs typeface="Calibri"/>
              </a:rPr>
              <a:t>Sỹ</a:t>
            </a:r>
            <a:r>
              <a:rPr lang="en-US" sz="1400" dirty="0">
                <a:solidFill>
                  <a:srgbClr val="9FB0C8"/>
                </a:solidFill>
                <a:latin typeface="Calibri"/>
                <a:ea typeface="Calibri"/>
                <a:cs typeface="Calibri"/>
              </a:rPr>
              <a:t> Tuấn Kiệt-2431540200</a:t>
            </a:r>
          </a:p>
          <a:p>
            <a:r>
              <a:rPr lang="en-US" sz="1400" dirty="0">
                <a:solidFill>
                  <a:srgbClr val="9FB0C8"/>
                </a:solidFill>
                <a:latin typeface="Calibri"/>
                <a:ea typeface="Calibri"/>
                <a:cs typeface="Calibri"/>
              </a:rPr>
              <a:t>Trần Ngọc Xuân Hiền-2431540250</a:t>
            </a:r>
          </a:p>
          <a:p>
            <a:r>
              <a:rPr lang="en-US" sz="1400" dirty="0">
                <a:solidFill>
                  <a:srgbClr val="9FB0C8"/>
                </a:solidFill>
                <a:latin typeface="Calibri"/>
                <a:ea typeface="Calibri"/>
                <a:cs typeface="Calibri"/>
              </a:rPr>
              <a:t>Vũ Minh Nhật-2431540181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822960"/>
            <a:ext cx="3017520" cy="3291840"/>
          </a:xfrm>
          <a:prstGeom prst="roundRect">
            <a:avLst>
              <a:gd name="adj" fmla="val 3030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0" y="1005840"/>
            <a:ext cx="1280160" cy="868680"/>
          </a:xfrm>
          <a:prstGeom prst="roundRect">
            <a:avLst>
              <a:gd name="adj" fmla="val 10526"/>
            </a:avLst>
          </a:prstGeom>
          <a:solidFill>
            <a:srgbClr val="0E18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0" y="1078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371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0" y="1664208"/>
            <a:ext cx="7315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0" y="1005840"/>
            <a:ext cx="1280160" cy="868680"/>
          </a:xfrm>
          <a:prstGeom prst="roundRect">
            <a:avLst>
              <a:gd name="adj" fmla="val 10526"/>
            </a:avLst>
          </a:prstGeom>
          <a:solidFill>
            <a:srgbClr val="0E18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0" y="1078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371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0" y="1664208"/>
            <a:ext cx="7315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2011680"/>
            <a:ext cx="1280160" cy="868680"/>
          </a:xfrm>
          <a:prstGeom prst="roundRect">
            <a:avLst>
              <a:gd name="adj" fmla="val 10526"/>
            </a:avLst>
          </a:prstGeom>
          <a:solidFill>
            <a:srgbClr val="0E18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0" y="2084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2377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2670048"/>
            <a:ext cx="45720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0" y="2011680"/>
            <a:ext cx="1280160" cy="868680"/>
          </a:xfrm>
          <a:prstGeom prst="roundRect">
            <a:avLst>
              <a:gd name="adj" fmla="val 10526"/>
            </a:avLst>
          </a:prstGeom>
          <a:solidFill>
            <a:srgbClr val="0E18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0" y="2084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2377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0" y="2670048"/>
            <a:ext cx="7315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3108960"/>
            <a:ext cx="2651760" cy="822960"/>
          </a:xfrm>
          <a:prstGeom prst="rect">
            <a:avLst/>
          </a:prstGeom>
          <a:solidFill>
            <a:srgbClr val="0E1830"/>
          </a:solidFill>
          <a:ln w="12700">
            <a:solidFill>
              <a:srgbClr val="1E3A5F"/>
            </a:solidFill>
            <a:prstDash val="solid"/>
          </a:ln>
        </p:spPr>
      </p:sp>
      <p:graphicFrame>
        <p:nvGraphicFramePr>
          <p:cNvPr id="23" name="Chart 0"/>
          <p:cNvGraphicFramePr/>
          <p:nvPr/>
        </p:nvGraphicFramePr>
        <p:xfrm>
          <a:off x="5852160" y="3108960"/>
          <a:ext cx="2651760" cy="822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ĐẶT RA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1223010"/>
            <a:ext cx="251460" cy="2514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097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máy có nhiều máy tính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502920" cy="50292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" y="1908810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1783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theo dõi thủ công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502920" cy="50292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" y="2594610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24688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phát hiện máy Offline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457200" y="3154680"/>
            <a:ext cx="502920" cy="50292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" y="3280410"/>
            <a:ext cx="251460" cy="2514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3154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biết CPU/RAM/Disk đang dùng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5486400" y="1097280"/>
            <a:ext cx="3200400" cy="2651760"/>
          </a:xfrm>
          <a:prstGeom prst="roundRect">
            <a:avLst>
              <a:gd name="adj" fmla="val 3448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5760720" y="137160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76072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6492240" y="137160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49224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7223760" y="137160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22376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7955280" y="137160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95528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5760720" y="214884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76072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6492240" y="214884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49224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7223760" y="214884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4A1D24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22376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7955280" y="214884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95528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5760720" y="292608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576072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4" name="Shape 28"/>
          <p:cNvSpPr/>
          <p:nvPr/>
        </p:nvSpPr>
        <p:spPr>
          <a:xfrm>
            <a:off x="6492240" y="292608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649224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6" name="Shape 30"/>
          <p:cNvSpPr/>
          <p:nvPr/>
        </p:nvSpPr>
        <p:spPr>
          <a:xfrm>
            <a:off x="7223760" y="292608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722376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8" name="Shape 32"/>
          <p:cNvSpPr/>
          <p:nvPr/>
        </p:nvSpPr>
        <p:spPr>
          <a:xfrm>
            <a:off x="7955280" y="292608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795528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0" name="Shape 34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Cần một hệ thống giám sát tập trung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ĐỀ TÀI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371600"/>
            <a:ext cx="594360" cy="59436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630" y="152019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 nhiều máy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46120" y="11887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51960" y="1371600"/>
            <a:ext cx="594360" cy="59436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550" y="152019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33756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CPU/RAM/Disk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035040" y="11887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040880" y="1371600"/>
            <a:ext cx="594360" cy="59436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9470" y="152019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12648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Online/Offline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57200" y="292608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463040" y="3108960"/>
            <a:ext cx="594360" cy="59436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1630" y="3257550"/>
            <a:ext cx="297180" cy="2971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8640" y="3794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tài nguyên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3246120" y="292608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251960" y="3108960"/>
            <a:ext cx="594360" cy="59436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0550" y="3257550"/>
            <a:ext cx="297180" cy="2971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337560" y="3794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lịch sử dữ liệu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6035040" y="292608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040880" y="3108960"/>
            <a:ext cx="594360" cy="59436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9470" y="3257550"/>
            <a:ext cx="297180" cy="2971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126480" y="3794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thời gian thực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005840" cy="438912"/>
          </a:xfrm>
          <a:prstGeom prst="roundRect">
            <a:avLst>
              <a:gd name="adj" fmla="val 20833"/>
            </a:avLst>
          </a:prstGeom>
          <a:solidFill>
            <a:srgbClr val="1232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0972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316736"/>
            <a:ext cx="457200" cy="274320"/>
          </a:xfrm>
          <a:prstGeom prst="line">
            <a:avLst/>
          </a:prstGeom>
          <a:noFill/>
          <a:ln w="25400">
            <a:solidFill>
              <a:srgbClr val="9FB0C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65760" y="1645920"/>
            <a:ext cx="1005840" cy="438912"/>
          </a:xfrm>
          <a:prstGeom prst="roundRect">
            <a:avLst>
              <a:gd name="adj" fmla="val 20833"/>
            </a:avLst>
          </a:prstGeom>
          <a:solidFill>
            <a:srgbClr val="1232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64592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1865376"/>
            <a:ext cx="457200" cy="91440"/>
          </a:xfrm>
          <a:prstGeom prst="line">
            <a:avLst/>
          </a:prstGeom>
          <a:noFill/>
          <a:ln w="25400">
            <a:solidFill>
              <a:srgbClr val="9FB0C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5760" y="2194560"/>
            <a:ext cx="1005840" cy="438912"/>
          </a:xfrm>
          <a:prstGeom prst="roundRect">
            <a:avLst>
              <a:gd name="adj" fmla="val 20833"/>
            </a:avLst>
          </a:prstGeom>
          <a:solidFill>
            <a:srgbClr val="1232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21945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2414016"/>
            <a:ext cx="457200" cy="0"/>
          </a:xfrm>
          <a:prstGeom prst="line">
            <a:avLst/>
          </a:prstGeom>
          <a:noFill/>
          <a:ln w="25400">
            <a:solidFill>
              <a:srgbClr val="9FB0C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5760" y="2743200"/>
            <a:ext cx="1005840" cy="438912"/>
          </a:xfrm>
          <a:prstGeom prst="roundRect">
            <a:avLst>
              <a:gd name="adj" fmla="val 20833"/>
            </a:avLst>
          </a:prstGeom>
          <a:solidFill>
            <a:srgbClr val="1232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27432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2962656"/>
            <a:ext cx="457200" cy="0"/>
          </a:xfrm>
          <a:prstGeom prst="line">
            <a:avLst/>
          </a:prstGeom>
          <a:noFill/>
          <a:ln w="25400">
            <a:solidFill>
              <a:srgbClr val="9FB0C8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1417320" y="3383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74520" y="141732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111C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1508760"/>
            <a:ext cx="457200" cy="45720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1623060"/>
            <a:ext cx="228600" cy="2286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87452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611880" y="141732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111C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0" y="1508760"/>
            <a:ext cx="457200" cy="45720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1623060"/>
            <a:ext cx="228600" cy="2286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361188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5349240" y="141732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111C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852160" y="1508760"/>
            <a:ext cx="457200" cy="45720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460" y="1623060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34924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3337560" y="2011680"/>
            <a:ext cx="27432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5074920" y="2011680"/>
            <a:ext cx="27432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4343400" y="2606040"/>
            <a:ext cx="0" cy="50292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3611880" y="310896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111C33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749040" y="3246120"/>
            <a:ext cx="502920" cy="50292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4770" y="3371850"/>
            <a:ext cx="251460" cy="25146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4297680" y="310896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7040880" y="1097280"/>
            <a:ext cx="1737360" cy="2834640"/>
          </a:xfrm>
          <a:prstGeom prst="roundRect">
            <a:avLst>
              <a:gd name="adj" fmla="val 5263"/>
            </a:avLst>
          </a:prstGeom>
          <a:solidFill>
            <a:srgbClr val="0E18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7178040" y="1188720"/>
            <a:ext cx="1463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Disk, Online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lý, cảnh báo, lưu DB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chảy từ Client → Broker → Server → Dashboard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HỆ THỐNG HOẠT ĐỘNG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554480"/>
            <a:ext cx="1188720" cy="2194560"/>
          </a:xfrm>
          <a:prstGeom prst="roundRect">
            <a:avLst>
              <a:gd name="adj" fmla="val 7692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548640" cy="54864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5760" y="27889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thu thập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554480" y="2651760"/>
            <a:ext cx="2286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783080" y="1554480"/>
            <a:ext cx="1188720" cy="2194560"/>
          </a:xfrm>
          <a:prstGeom prst="roundRect">
            <a:avLst>
              <a:gd name="adj" fmla="val 7692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783080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103120" y="2103120"/>
            <a:ext cx="548640" cy="54864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280" y="22402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83080" y="27889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971800" y="2651760"/>
            <a:ext cx="2286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200400" y="1554480"/>
            <a:ext cx="1188720" cy="2194560"/>
          </a:xfrm>
          <a:prstGeom prst="roundRect">
            <a:avLst>
              <a:gd name="adj" fmla="val 7692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200400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3520440" y="2103120"/>
            <a:ext cx="548640" cy="54864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22402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200400" y="27889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389120" y="2651760"/>
            <a:ext cx="2286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4617720" y="1554480"/>
            <a:ext cx="1188720" cy="2194560"/>
          </a:xfrm>
          <a:prstGeom prst="roundRect">
            <a:avLst>
              <a:gd name="adj" fmla="val 7692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617720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4937760" y="2103120"/>
            <a:ext cx="548640" cy="54864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24028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617720" y="27889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nhận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806440" y="2651760"/>
            <a:ext cx="2286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6035040" y="1554480"/>
            <a:ext cx="1188720" cy="2194560"/>
          </a:xfrm>
          <a:prstGeom prst="roundRect">
            <a:avLst>
              <a:gd name="adj" fmla="val 7692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035040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6355080" y="2103120"/>
            <a:ext cx="548640" cy="54864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224028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035040" y="27889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7223760" y="2651760"/>
            <a:ext cx="2286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7452360" y="1554480"/>
            <a:ext cx="1188720" cy="2194560"/>
          </a:xfrm>
          <a:prstGeom prst="roundRect">
            <a:avLst>
              <a:gd name="adj" fmla="val 7692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452360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Shape 28"/>
          <p:cNvSpPr/>
          <p:nvPr/>
        </p:nvSpPr>
        <p:spPr>
          <a:xfrm>
            <a:off x="7772400" y="2103120"/>
            <a:ext cx="548640" cy="54864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9560" y="2240280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452360" y="27889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SỬ DỤNG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325880"/>
            <a:ext cx="548640" cy="54864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Server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0320" y="118872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46120" y="1325880"/>
            <a:ext cx="548640" cy="54864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4630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/ Paho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56032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Truyền, nhận dữ liệu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63440" y="118872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4630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6344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66344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766560" y="118872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52360" y="1325880"/>
            <a:ext cx="548640" cy="54864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4630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6656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76656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cho Dashboard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292608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143000" y="3063240"/>
            <a:ext cx="548640" cy="54864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60" y="320040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7200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MySQL/SQLite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lịch sử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2560320" y="292608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246120" y="3063240"/>
            <a:ext cx="548640" cy="54864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320040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560320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256032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4663440" y="292608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5349240" y="3063240"/>
            <a:ext cx="548640" cy="54864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3200400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663440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466344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mã nguồn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TRONG HỆ THỐNG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11C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10972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11C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66560" y="10972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11C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377440" y="1463040"/>
            <a:ext cx="12801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0" y="1463040"/>
            <a:ext cx="12801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377440" y="1097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1097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8046720" cy="2011680"/>
          </a:xfrm>
          <a:prstGeom prst="roundRect">
            <a:avLst>
              <a:gd name="adj" fmla="val 4545"/>
            </a:avLst>
          </a:prstGeom>
          <a:solidFill>
            <a:srgbClr val="060B1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6974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room/pc01/status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room/pc01/resource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room/pc02/status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room/pc02/resource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CHỨC NĂNG CHÍNH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371600"/>
            <a:ext cx="594360" cy="59436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630" y="152019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Online/Offline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31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từng máy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51960" y="1371600"/>
            <a:ext cx="594360" cy="59436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550" y="152019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3756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337560" y="2331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sử dụng vi xử lý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35040" y="11887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040880" y="1371600"/>
            <a:ext cx="594360" cy="59436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9470" y="152019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12648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126480" y="2331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nhớ đang dùng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463040" y="3108960"/>
            <a:ext cx="594360" cy="59436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1630" y="325755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" y="3794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4069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 lượng ổ đĩa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46120" y="292608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251960" y="3108960"/>
            <a:ext cx="594360" cy="59436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0550" y="3257550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337560" y="3794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337560" y="4069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vượt ngưỡng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035040" y="292608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040880" y="3108960"/>
            <a:ext cx="594360" cy="59436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9470" y="3257550"/>
            <a:ext cx="297180" cy="2971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126480" y="3794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lịch sử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126480" y="4069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bằng biểu đồ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THỜI GIAN THỰC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280160" cy="868680"/>
          </a:xfrm>
          <a:prstGeom prst="roundRect">
            <a:avLst>
              <a:gd name="adj" fmla="val 10526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789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số máy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74520" y="1051560"/>
            <a:ext cx="1280160" cy="868680"/>
          </a:xfrm>
          <a:prstGeom prst="roundRect">
            <a:avLst>
              <a:gd name="adj" fmla="val 10526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74520" y="10789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1280160" cy="868680"/>
          </a:xfrm>
          <a:prstGeom prst="roundRect">
            <a:avLst>
              <a:gd name="adj" fmla="val 10526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0789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148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468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0120" y="2505456"/>
            <a:ext cx="493776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57400" y="246888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670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60120" y="2706624"/>
            <a:ext cx="680314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057400" y="26700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8712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60120" y="2907792"/>
            <a:ext cx="768096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057400" y="28712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0" y="210312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5176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2148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651760" y="2468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063240" y="2505456"/>
            <a:ext cx="570586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160520" y="246888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651760" y="2670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063240" y="2706624"/>
            <a:ext cx="74615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60520" y="26700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2651760" y="28712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63240" y="2907792"/>
            <a:ext cx="713232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160520" y="28712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24612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111C33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PC03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371600" y="3291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60320" y="324612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65176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PC04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474720" y="3291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2651760" y="3611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063240" y="3648456"/>
            <a:ext cx="405994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160520" y="361188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2651760" y="3813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063240" y="3849624"/>
            <a:ext cx="603504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160520" y="38130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2651760" y="40142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63240" y="4050792"/>
            <a:ext cx="669341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160520" y="40142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54880" y="105156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graphicFrame>
        <p:nvGraphicFramePr>
          <p:cNvPr id="52" name="Chart 0"/>
          <p:cNvGraphicFramePr/>
          <p:nvPr/>
        </p:nvGraphicFramePr>
        <p:xfrm>
          <a:off x="4846320" y="1097280"/>
          <a:ext cx="37490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3" name="Shape 50"/>
          <p:cNvSpPr/>
          <p:nvPr/>
        </p:nvSpPr>
        <p:spPr>
          <a:xfrm>
            <a:off x="4754880" y="301752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2A1418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892040" y="3200400"/>
            <a:ext cx="502920" cy="502920"/>
          </a:xfrm>
          <a:prstGeom prst="ellipse">
            <a:avLst/>
          </a:prstGeom>
          <a:solidFill>
            <a:srgbClr val="4A1D24"/>
          </a:solidFill>
          <a:ln w="12700">
            <a:solidFill>
              <a:srgbClr val="4A1D24"/>
            </a:solidFill>
            <a:prstDash val="solid"/>
          </a:ln>
        </p:spPr>
      </p:sp>
      <p:pic>
        <p:nvPicPr>
          <p:cNvPr id="5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770" y="3326130"/>
            <a:ext cx="251460" cy="251460"/>
          </a:xfrm>
          <a:prstGeom prst="rect">
            <a:avLst/>
          </a:prstGeom>
        </p:spPr>
      </p:pic>
      <p:sp>
        <p:nvSpPr>
          <p:cNvPr id="56" name="Text 52"/>
          <p:cNvSpPr txBox="1"/>
          <p:nvPr/>
        </p:nvSpPr>
        <p:spPr>
          <a:xfrm>
            <a:off x="5532120" y="30175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PC02 đang sử dụng CPU 95%</a:t>
            </a:r>
            <a:endParaRPr lang="en-US" sz="1300" dirty="0"/>
          </a:p>
        </p:txBody>
      </p:sp>
      <p:sp>
        <p:nvSpPr>
          <p:cNvPr id="57" name="Text 53"/>
          <p:cNvSpPr txBox="1"/>
          <p:nvPr/>
        </p:nvSpPr>
        <p:spPr>
          <a:xfrm>
            <a:off x="45720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dự kiến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VÀ PHÁT HIỆN OFFLINE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109728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rgbClr val="3A2A10"/>
          </a:solidFill>
          <a:ln w="12700">
            <a:solidFill>
              <a:srgbClr val="3A2A1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136017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234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tài nguyên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846320" y="1234440"/>
            <a:ext cx="502920" cy="502920"/>
          </a:xfrm>
          <a:prstGeom prst="ellipse">
            <a:avLst/>
          </a:prstGeom>
          <a:solidFill>
            <a:srgbClr val="4A1D24"/>
          </a:solidFill>
          <a:ln w="12700">
            <a:solidFill>
              <a:srgbClr val="4A1D24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136017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0" y="1234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Offline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868680" y="1965960"/>
            <a:ext cx="2926080" cy="548640"/>
          </a:xfrm>
          <a:prstGeom prst="roundRect">
            <a:avLst>
              <a:gd name="adj" fmla="val 16667"/>
            </a:avLst>
          </a:prstGeom>
          <a:solidFill>
            <a:srgbClr val="0E183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68680" y="1965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CPU/RAM &gt; 90%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331720" y="2514600"/>
            <a:ext cx="0" cy="2286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868680" y="2743200"/>
            <a:ext cx="2926080" cy="548640"/>
          </a:xfrm>
          <a:prstGeom prst="roundRect">
            <a:avLst>
              <a:gd name="adj" fmla="val 16667"/>
            </a:avLst>
          </a:prstGeom>
          <a:solidFill>
            <a:srgbClr val="0E183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68680" y="2743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trên Dashboard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"PC02 đang sử dụng CPU 95%"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212080" y="1965960"/>
            <a:ext cx="2926080" cy="548640"/>
          </a:xfrm>
          <a:prstGeom prst="roundRect">
            <a:avLst>
              <a:gd name="adj" fmla="val 16667"/>
            </a:avLst>
          </a:prstGeom>
          <a:solidFill>
            <a:srgbClr val="0E183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212080" y="1965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mất kết nối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675120" y="2514600"/>
            <a:ext cx="0" cy="2286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212080" y="2743200"/>
            <a:ext cx="2926080" cy="548640"/>
          </a:xfrm>
          <a:prstGeom prst="roundRect">
            <a:avLst>
              <a:gd name="adj" fmla="val 16667"/>
            </a:avLst>
          </a:prstGeom>
          <a:solidFill>
            <a:srgbClr val="0E18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212080" y="2743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Last Will and Testament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675120" y="3291840"/>
            <a:ext cx="0" cy="2286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5212080" y="3520440"/>
            <a:ext cx="2926080" cy="548640"/>
          </a:xfrm>
          <a:prstGeom prst="roundRect">
            <a:avLst>
              <a:gd name="adj" fmla="val 16667"/>
            </a:avLst>
          </a:prstGeom>
          <a:solidFill>
            <a:srgbClr val="0E183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21208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PC03 OFFLINE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PHÁT TRIỂN CỦA NHÓM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111C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109728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 KHẢO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PHÁT TRIỂN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4592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Client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Publish/Subscribe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truyền dữ liệu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164592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 nhiều PC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CPU/RAM/Disk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báo, phát hiện Offline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và biểu đồ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Paho · MQTT Examples · Mosquitto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60520" y="2423160"/>
            <a:ext cx="822960" cy="822960"/>
          </a:xfrm>
          <a:prstGeom prst="ellipse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60" y="26289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DỰ KIẾN / KẾT LUẬN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47472" cy="347472"/>
          </a:xfrm>
          <a:prstGeom prst="ellipse">
            <a:avLst/>
          </a:prstGeom>
          <a:solidFill>
            <a:srgbClr val="0F2E2A"/>
          </a:solidFill>
          <a:ln w="12700">
            <a:solidFill>
              <a:srgbClr val="0F2E2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1138428"/>
            <a:ext cx="173736" cy="1737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10515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hệ thống giám sát phòng máy qua mạng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347472" cy="347472"/>
          </a:xfrm>
          <a:prstGeom prst="ellipse">
            <a:avLst/>
          </a:prstGeom>
          <a:solidFill>
            <a:srgbClr val="0F2E2A"/>
          </a:solidFill>
          <a:ln w="12700">
            <a:solidFill>
              <a:srgbClr val="0F2E2A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1595628"/>
            <a:ext cx="173736" cy="17373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5087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dữ liệu từ nhiều Client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57200" y="1965960"/>
            <a:ext cx="347472" cy="347472"/>
          </a:xfrm>
          <a:prstGeom prst="ellipse">
            <a:avLst/>
          </a:prstGeom>
          <a:solidFill>
            <a:srgbClr val="0F2E2A"/>
          </a:solidFill>
          <a:ln w="12700">
            <a:solidFill>
              <a:srgbClr val="0F2E2A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2052828"/>
            <a:ext cx="173736" cy="17373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60120" y="19659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tài nguyên theo thời gian thực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457200" y="2423160"/>
            <a:ext cx="347472" cy="347472"/>
          </a:xfrm>
          <a:prstGeom prst="ellipse">
            <a:avLst/>
          </a:prstGeom>
          <a:solidFill>
            <a:srgbClr val="0F2E2A"/>
          </a:solidFill>
          <a:ln w="12700">
            <a:solidFill>
              <a:srgbClr val="0F2E2A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2510028"/>
            <a:ext cx="173736" cy="17373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60120" y="24231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Offline và cảnh báo tài nguyên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457200" y="2880360"/>
            <a:ext cx="347472" cy="347472"/>
          </a:xfrm>
          <a:prstGeom prst="ellipse">
            <a:avLst/>
          </a:prstGeom>
          <a:solidFill>
            <a:srgbClr val="0F2E2A"/>
          </a:solidFill>
          <a:ln w="12700">
            <a:solidFill>
              <a:srgbClr val="0F2E2A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2967228"/>
            <a:ext cx="173736" cy="17373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60120" y="28803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lịch sử dữ liệu</a:t>
            </a:r>
            <a:endParaRPr lang="en-US" sz="1800" dirty="0"/>
          </a:p>
        </p:txBody>
      </p:sp>
      <p:sp>
        <p:nvSpPr>
          <p:cNvPr id="18" name="Shape 11"/>
          <p:cNvSpPr/>
          <p:nvPr/>
        </p:nvSpPr>
        <p:spPr>
          <a:xfrm>
            <a:off x="457200" y="3337560"/>
            <a:ext cx="347472" cy="347472"/>
          </a:xfrm>
          <a:prstGeom prst="ellipse">
            <a:avLst/>
          </a:prstGeom>
          <a:solidFill>
            <a:srgbClr val="0F2E2A"/>
          </a:solidFill>
          <a:ln w="12700">
            <a:solidFill>
              <a:srgbClr val="0F2E2A"/>
            </a:solidFill>
            <a:prstDash val="solid"/>
          </a:ln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3424428"/>
            <a:ext cx="173736" cy="17373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60120" y="33375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khả năng mở rộng thêm nhiều máy</a:t>
            </a:r>
            <a:endParaRPr lang="en-US" sz="1800" dirty="0"/>
          </a:p>
        </p:txBody>
      </p:sp>
      <p:sp>
        <p:nvSpPr>
          <p:cNvPr id="21" name="Shape 13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THẦY/CÔ VÀ CÁC BẠN ĐÃ LẮNG NGHE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Giám sát phòng máy</dc:title>
  <dc:subject>PptxGenJS Presentation</dc:subject>
  <dc:creator>PptxGenJS</dc:creator>
  <cp:lastModifiedBy>PptxGenJS</cp:lastModifiedBy>
  <cp:revision>25</cp:revision>
  <dcterms:created xsi:type="dcterms:W3CDTF">2026-09-29T13:41:47Z</dcterms:created>
  <dcterms:modified xsi:type="dcterms:W3CDTF">2026-09-29T14:21:32Z</dcterms:modified>
</cp:coreProperties>
</file>